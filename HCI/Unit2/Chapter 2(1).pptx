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4"/>
  </p:notesMasterIdLst>
  <p:sldIdLst>
    <p:sldId id="256" r:id="rId5"/>
    <p:sldId id="257" r:id="rId6"/>
    <p:sldId id="276" r:id="rId7"/>
    <p:sldId id="258" r:id="rId8"/>
    <p:sldId id="259" r:id="rId9"/>
    <p:sldId id="275" r:id="rId10"/>
    <p:sldId id="260" r:id="rId11"/>
    <p:sldId id="261" r:id="rId12"/>
    <p:sldId id="262" r:id="rId13"/>
    <p:sldId id="263" r:id="rId14"/>
    <p:sldId id="277" r:id="rId15"/>
    <p:sldId id="278" r:id="rId16"/>
    <p:sldId id="264" r:id="rId17"/>
    <p:sldId id="267" r:id="rId18"/>
    <p:sldId id="268" r:id="rId19"/>
    <p:sldId id="279" r:id="rId20"/>
    <p:sldId id="271" r:id="rId21"/>
    <p:sldId id="273" r:id="rId22"/>
    <p:sldId id="274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elen Sharp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765C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7" autoAdjust="0"/>
    <p:restoredTop sz="86385" autoAdjust="0"/>
  </p:normalViewPr>
  <p:slideViewPr>
    <p:cSldViewPr>
      <p:cViewPr varScale="1">
        <p:scale>
          <a:sx n="98" d="100"/>
          <a:sy n="98" d="100"/>
        </p:scale>
        <p:origin x="69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2BF90-99B2-4202-92DF-19479BF58EE9}" type="datetimeFigureOut">
              <a:rPr lang="en-GB" smtClean="0"/>
              <a:t>22/02/2023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5A965-49CD-492E-84BE-5EB2A9CC3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3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F2D46C-139E-2F4F-8987-EC36C117A5B1}" type="slidenum">
              <a:rPr lang="en-GB"/>
              <a:pPr/>
              <a:t>10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F2D46C-139E-2F4F-8987-EC36C117A5B1}" type="slidenum">
              <a:rPr lang="en-GB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081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F2D46C-139E-2F4F-8987-EC36C117A5B1}" type="slidenum">
              <a:rPr lang="en-GB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349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</a:lstStyle>
          <a:p>
            <a:r>
              <a:rPr lang="en-GB"/>
              <a:t>www.id-book.com</a:t>
            </a:r>
            <a:endParaRPr lang="en-GB">
              <a:solidFill>
                <a:srgbClr val="7030A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63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3415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614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30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04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149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994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0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49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491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www.id-book.com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383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en-US"/>
              <a:t>www.id-book.com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r>
              <a:rPr lang="en-GB"/>
              <a:t>www.id-book.com</a:t>
            </a:r>
            <a:endParaRPr lang="en-GB">
              <a:solidFill>
                <a:srgbClr val="7030A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</a:lstStyle>
          <a:p>
            <a:fld id="{A7EA2D8D-44E5-43C4-BBA1-AE3E32EF089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19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7030A0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7030A0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0070C0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0070C0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0070C0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 noGrp="1"/>
          </p:cNvSpPr>
          <p:nvPr>
            <p:ph type="title" idx="4294967295"/>
          </p:nvPr>
        </p:nvSpPr>
        <p:spPr>
          <a:xfrm>
            <a:off x="250059" y="4581128"/>
            <a:ext cx="8621070" cy="129266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Chapter 2</a:t>
            </a:r>
            <a:b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</a:b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THE PROCESS OF INTERACTION DESIGN</a:t>
            </a:r>
          </a:p>
        </p:txBody>
      </p:sp>
      <p:pic>
        <p:nvPicPr>
          <p:cNvPr id="2049" name="Picture 1" descr="Image shows cover of the book Interaction Design, 6th edition">
            <a:extLst>
              <a:ext uri="{FF2B5EF4-FFF2-40B4-BE49-F238E27FC236}">
                <a16:creationId xmlns:a16="http://schemas.microsoft.com/office/drawing/2014/main" id="{43F643DA-2BFA-4F43-83D7-B426875AB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76672"/>
            <a:ext cx="3003534" cy="400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1185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What is involved in Interaction Design?</a:t>
            </a:r>
            <a:endParaRPr lang="en-US" sz="800" dirty="0"/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Who to involve in the design process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Importance of involving users</a:t>
            </a:r>
            <a:endParaRPr lang="en-US" sz="600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Degrees of user involvement</a:t>
            </a:r>
            <a:endParaRPr lang="en-US" sz="600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What is a people-centered approach?</a:t>
            </a:r>
            <a:endParaRPr lang="en-US" sz="600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Four basic activities of interaction design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simple lifecycle model for interaction design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Some practical issues</a:t>
            </a:r>
            <a:endParaRPr lang="en-US" sz="600" dirty="0"/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How to find out what people need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How to decide what to design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How to generate alternative designs</a:t>
            </a:r>
            <a:endParaRPr lang="en-US" sz="600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How to choose among alternative designs</a:t>
            </a:r>
            <a:endParaRPr lang="en-US" sz="600" dirty="0">
              <a:solidFill>
                <a:schemeClr val="tx1"/>
              </a:solidFill>
            </a:endParaRPr>
          </a:p>
          <a:p>
            <a:pPr lvl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How to integrate interaction design activities within other lifecycle models</a:t>
            </a:r>
          </a:p>
        </p:txBody>
      </p:sp>
      <p:graphicFrame>
        <p:nvGraphicFramePr>
          <p:cNvPr id="7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738048"/>
              </p:ext>
            </p:extLst>
          </p:nvPr>
        </p:nvGraphicFramePr>
        <p:xfrm>
          <a:off x="6804248" y="1196752"/>
          <a:ext cx="1674813" cy="374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857600" imgH="3995640" progId="MS_ClipArt_Gallery.2">
                  <p:embed/>
                </p:oleObj>
              </mc:Choice>
              <mc:Fallback>
                <p:oleObj name="Clip" r:id="rId2" imgW="1857600" imgH="399564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1196752"/>
                        <a:ext cx="1674813" cy="374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/>
              <a:t>www.id-book.com</a:t>
            </a:r>
          </a:p>
        </p:txBody>
      </p:sp>
      <p:sp>
        <p:nvSpPr>
          <p:cNvPr id="9" name="Slide Number Placehold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</a:rPr>
              <a:t>2</a:t>
            </a:fld>
            <a:endParaRPr lang="en-GB" sz="1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85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is involved in Interaction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GB" sz="2800" dirty="0"/>
              <a:t>It is a process:</a:t>
            </a:r>
            <a:endParaRPr lang="en-GB" sz="900" dirty="0"/>
          </a:p>
          <a:p>
            <a:pPr lvl="1">
              <a:lnSpc>
                <a:spcPct val="110000"/>
              </a:lnSpc>
              <a:buFont typeface="Wingdings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Focused on discovering requirements, designing to fulfil requirements, producing prototypes and evaluating them</a:t>
            </a:r>
            <a:endParaRPr lang="en-GB" sz="900" dirty="0">
              <a:solidFill>
                <a:schemeClr val="tx1"/>
              </a:solidFill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Focused on users and their goals</a:t>
            </a:r>
            <a:endParaRPr lang="en-GB" sz="900" dirty="0">
              <a:solidFill>
                <a:schemeClr val="tx1"/>
              </a:solidFill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Involves trade-offs to balance conflicting requirements</a:t>
            </a:r>
            <a:endParaRPr lang="en-GB" sz="2800" dirty="0"/>
          </a:p>
          <a:p>
            <a:pPr>
              <a:lnSpc>
                <a:spcPct val="110000"/>
              </a:lnSpc>
            </a:pPr>
            <a:r>
              <a:rPr lang="en-GB" sz="2800" dirty="0"/>
              <a:t>Generating alternatives and choosing between them is key</a:t>
            </a:r>
          </a:p>
          <a:p>
            <a:pPr>
              <a:lnSpc>
                <a:spcPct val="110000"/>
              </a:lnSpc>
            </a:pPr>
            <a:r>
              <a:rPr lang="en-GB" sz="2800" dirty="0"/>
              <a:t>Four approaches: user-</a:t>
            </a:r>
            <a:r>
              <a:rPr lang="en-GB" sz="2800" dirty="0" err="1"/>
              <a:t>centered</a:t>
            </a:r>
            <a:r>
              <a:rPr lang="en-GB" sz="2800" dirty="0"/>
              <a:t> design, </a:t>
            </a:r>
            <a:r>
              <a:rPr lang="en-US" sz="2800" dirty="0"/>
              <a:t>activity-centered</a:t>
            </a:r>
            <a:r>
              <a:rPr lang="en-GB" sz="2800" dirty="0"/>
              <a:t> design, systems design, and genius design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/>
              <a:t>www.id-book.com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</a:rPr>
              <a:t>3</a:t>
            </a:fld>
            <a:endParaRPr lang="en-GB" sz="1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365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double diamond of design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/>
              <a:t>www.id-book.com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</a:rPr>
              <a:t>4</a:t>
            </a:fld>
            <a:endParaRPr lang="en-GB" sz="1000" dirty="0">
              <a:solidFill>
                <a:srgbClr val="7030A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3A94B6-BB51-8A41-8703-E1CC1F2E24DE}"/>
              </a:ext>
            </a:extLst>
          </p:cNvPr>
          <p:cNvSpPr/>
          <p:nvPr/>
        </p:nvSpPr>
        <p:spPr>
          <a:xfrm>
            <a:off x="338336" y="5957461"/>
            <a:ext cx="87849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i="1" dirty="0">
                <a:effectLst/>
              </a:rPr>
              <a:t>Source: </a:t>
            </a:r>
            <a:r>
              <a:rPr lang="en-GB" sz="1200" dirty="0">
                <a:effectLst/>
              </a:rPr>
              <a:t>Adapted from </a:t>
            </a:r>
            <a:r>
              <a:rPr lang="en-GB" sz="1200" dirty="0" err="1">
                <a:effectLst/>
              </a:rPr>
              <a:t>www.designcouncil.org.uk</a:t>
            </a:r>
            <a:r>
              <a:rPr lang="en-GB" sz="1200" dirty="0">
                <a:effectLst/>
              </a:rPr>
              <a:t>/news-opinion/what-framework-innovation-design-councils-evolved-double-diamond </a:t>
            </a:r>
            <a:endParaRPr lang="en-GB" sz="1200" dirty="0"/>
          </a:p>
        </p:txBody>
      </p:sp>
      <p:pic>
        <p:nvPicPr>
          <p:cNvPr id="4" name="Picture 3" descr="An illustration of the Design Council's framework for innovation with the double diamond of design at its heart.">
            <a:extLst>
              <a:ext uri="{FF2B5EF4-FFF2-40B4-BE49-F238E27FC236}">
                <a16:creationId xmlns:a16="http://schemas.microsoft.com/office/drawing/2014/main" id="{019B1B77-83B1-2540-A2A5-9B26A1F792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8" r="1893"/>
          <a:stretch/>
        </p:blipFill>
        <p:spPr>
          <a:xfrm>
            <a:off x="576064" y="1268760"/>
            <a:ext cx="8229600" cy="530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704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995936" y="6381328"/>
            <a:ext cx="2133600" cy="365125"/>
          </a:xfrm>
        </p:spPr>
        <p:txBody>
          <a:bodyPr/>
          <a:lstStyle/>
          <a:p>
            <a:r>
              <a:rPr lang="en-GB" sz="1000" dirty="0">
                <a:solidFill>
                  <a:srgbClr val="7030A0"/>
                </a:solidFill>
              </a:rPr>
              <a:t>www.id-book.com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Who to involve in interaction design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412776"/>
            <a:ext cx="8229600" cy="4608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Identify stakeholders for the product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Individuals or groups who influence or are influenced by the success or failure of the project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Users are not the only stakeholders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Direct and indirect users, developers, executives, legislators</a:t>
            </a:r>
          </a:p>
          <a:p>
            <a:pPr lvl="1"/>
            <a:endParaRPr lang="en-GB" sz="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800" dirty="0"/>
              <a:t>Involving stakeholders is not always easy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May not need to involve all groups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Knowing the stakeholder groups is only the first step!</a:t>
            </a:r>
          </a:p>
          <a:p>
            <a:pPr marL="57150" indent="0">
              <a:buNone/>
            </a:pPr>
            <a:endParaRPr lang="en-GB" sz="2800" dirty="0"/>
          </a:p>
        </p:txBody>
      </p:sp>
      <p:sp>
        <p:nvSpPr>
          <p:cNvPr id="2" name="Slide Number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</a:rPr>
              <a:t>5</a:t>
            </a:fld>
            <a:endParaRPr lang="en-GB" sz="1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046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995936" y="6381328"/>
            <a:ext cx="2133600" cy="365125"/>
          </a:xfrm>
        </p:spPr>
        <p:txBody>
          <a:bodyPr/>
          <a:lstStyle/>
          <a:p>
            <a:r>
              <a:rPr lang="en-GB" sz="1000" dirty="0">
                <a:solidFill>
                  <a:srgbClr val="7030A0"/>
                </a:solidFill>
              </a:rPr>
              <a:t>www.id-book.com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Importance of involving users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9386" y="1556792"/>
            <a:ext cx="8229600" cy="45365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800" dirty="0"/>
              <a:t>Expectation management</a:t>
            </a:r>
            <a:r>
              <a:rPr lang="en-GB" sz="2800" i="1" dirty="0"/>
              <a:t> </a:t>
            </a:r>
            <a:endParaRPr lang="en-GB" sz="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Realistic expectations 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No surprises, no disappointments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Timely training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Communication, but no hype</a:t>
            </a:r>
          </a:p>
          <a:p>
            <a:pPr lvl="1"/>
            <a:endParaRPr lang="en-GB" sz="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800" dirty="0"/>
              <a:t>Ownership</a:t>
            </a:r>
            <a:r>
              <a:rPr lang="en-GB" sz="2800" i="1" dirty="0"/>
              <a:t> </a:t>
            </a:r>
            <a:endParaRPr lang="en-GB" sz="1000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Make the users active stakeholders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More likely to forgive or accept problems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Can make a big difference in acceptance and success of product</a:t>
            </a:r>
          </a:p>
        </p:txBody>
      </p:sp>
      <p:sp>
        <p:nvSpPr>
          <p:cNvPr id="2" name="Slide Number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</a:rPr>
              <a:t>6</a:t>
            </a:fld>
            <a:endParaRPr lang="en-GB" sz="1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778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67944" y="6381328"/>
            <a:ext cx="2133600" cy="365125"/>
          </a:xfrm>
        </p:spPr>
        <p:txBody>
          <a:bodyPr/>
          <a:lstStyle/>
          <a:p>
            <a:r>
              <a:rPr lang="en-GB" sz="1000" dirty="0">
                <a:solidFill>
                  <a:srgbClr val="7030A0"/>
                </a:solidFill>
              </a:rPr>
              <a:t>www.id-book.com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Degrees of user involvement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556792"/>
            <a:ext cx="7772400" cy="4464496"/>
          </a:xfrm>
        </p:spPr>
        <p:txBody>
          <a:bodyPr>
            <a:normAutofit/>
          </a:bodyPr>
          <a:lstStyle/>
          <a:p>
            <a:r>
              <a:rPr lang="en-GB" sz="2400" dirty="0"/>
              <a:t>Member of the design team</a:t>
            </a:r>
            <a:endParaRPr lang="en-GB" sz="800" i="1" dirty="0"/>
          </a:p>
          <a:p>
            <a:r>
              <a:rPr lang="en-GB" sz="2400" dirty="0"/>
              <a:t>Small group or individual activities</a:t>
            </a:r>
          </a:p>
          <a:p>
            <a:r>
              <a:rPr lang="en-GB" sz="2400" dirty="0"/>
              <a:t>Online contributions from thousands of users</a:t>
            </a:r>
          </a:p>
          <a:p>
            <a:pPr lvl="1"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Online Feedback Exchange (OFE) systems</a:t>
            </a:r>
          </a:p>
          <a:p>
            <a:pPr lvl="1"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Crowdsourcing design ideas</a:t>
            </a:r>
          </a:p>
          <a:p>
            <a:pPr lvl="1"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Citizen engagement</a:t>
            </a:r>
          </a:p>
          <a:p>
            <a:r>
              <a:rPr lang="en-GB" sz="2400" dirty="0"/>
              <a:t>Participatory design</a:t>
            </a:r>
          </a:p>
          <a:p>
            <a:r>
              <a:rPr lang="en-GB" sz="2400" dirty="0"/>
              <a:t>User involvement after product release</a:t>
            </a:r>
          </a:p>
          <a:p>
            <a:pPr lvl="1"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A/B testing</a:t>
            </a:r>
          </a:p>
          <a:p>
            <a:pPr lvl="1"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Customer reviews</a:t>
            </a:r>
          </a:p>
          <a:p>
            <a:pPr lvl="1">
              <a:buFont typeface="Wingdings" pitchFamily="2" charset="2"/>
              <a:buChar char="§"/>
            </a:pPr>
            <a:endParaRPr lang="en-GB" sz="2000" dirty="0">
              <a:solidFill>
                <a:schemeClr val="tx1"/>
              </a:solidFill>
            </a:endParaRPr>
          </a:p>
          <a:p>
            <a:endParaRPr lang="en-GB" sz="2400" dirty="0"/>
          </a:p>
        </p:txBody>
      </p:sp>
      <p:sp>
        <p:nvSpPr>
          <p:cNvPr id="2" name="Slide Number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</a:rPr>
              <a:t>7</a:t>
            </a:fld>
            <a:endParaRPr lang="en-GB" sz="1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990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923928" y="6381328"/>
            <a:ext cx="2133600" cy="365125"/>
          </a:xfrm>
        </p:spPr>
        <p:txBody>
          <a:bodyPr/>
          <a:lstStyle/>
          <a:p>
            <a:r>
              <a:rPr lang="en-GB" sz="1000" dirty="0">
                <a:solidFill>
                  <a:srgbClr val="7030A0"/>
                </a:solidFill>
              </a:rPr>
              <a:t>www.id-book.com</a:t>
            </a: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0648"/>
            <a:ext cx="9133208" cy="1143000"/>
          </a:xfrm>
        </p:spPr>
        <p:txBody>
          <a:bodyPr>
            <a:noAutofit/>
          </a:bodyPr>
          <a:lstStyle/>
          <a:p>
            <a:r>
              <a:rPr lang="en-GB" sz="4200" dirty="0"/>
              <a:t>What is a people-</a:t>
            </a:r>
            <a:r>
              <a:rPr lang="en-GB" sz="4200" dirty="0" err="1"/>
              <a:t>centered</a:t>
            </a:r>
            <a:r>
              <a:rPr lang="en-GB" sz="4200" dirty="0"/>
              <a:t> approach?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84784"/>
            <a:ext cx="8568952" cy="4896544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sz="2800" dirty="0"/>
              <a:t>Three principles for “useful &amp; easy-to-use” products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Early focus on users and tasks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Empirical measurement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Iterative design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GB" sz="2800" dirty="0"/>
              <a:t>Expanded to include</a:t>
            </a:r>
            <a:endParaRPr lang="en-US" sz="2800" dirty="0">
              <a:solidFill>
                <a:schemeClr val="tx1"/>
              </a:solidFill>
            </a:endParaRP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People’s tasks and goals drive development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People’s behaviour and context is studied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People’s characteristics are designed for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Stakeholders are consulted throughout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Design decisions are taken in this context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Specific usability and user experience goals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Iteration through all interaction design activities</a:t>
            </a:r>
          </a:p>
        </p:txBody>
      </p:sp>
      <p:sp>
        <p:nvSpPr>
          <p:cNvPr id="2" name="Slide Number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</a:rPr>
              <a:t>8</a:t>
            </a:fld>
            <a:endParaRPr lang="en-GB" sz="1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85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67944" y="6309320"/>
            <a:ext cx="2133600" cy="365125"/>
          </a:xfrm>
        </p:spPr>
        <p:txBody>
          <a:bodyPr/>
          <a:lstStyle/>
          <a:p>
            <a:r>
              <a:rPr lang="en-GB" sz="1000" dirty="0">
                <a:solidFill>
                  <a:srgbClr val="7030A0"/>
                </a:solidFill>
              </a:rPr>
              <a:t>www.id-book.com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0374" y="561783"/>
            <a:ext cx="8383252" cy="1143000"/>
          </a:xfrm>
        </p:spPr>
        <p:txBody>
          <a:bodyPr>
            <a:noAutofit/>
          </a:bodyPr>
          <a:lstStyle/>
          <a:p>
            <a:r>
              <a:rPr lang="en-GB" dirty="0"/>
              <a:t>Four basic activities of Interaction Design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2204864"/>
            <a:ext cx="7772400" cy="3960440"/>
          </a:xfrm>
        </p:spPr>
        <p:txBody>
          <a:bodyPr>
            <a:normAutofit/>
          </a:bodyPr>
          <a:lstStyle/>
          <a:p>
            <a:pPr marL="990600" lvl="1" indent="-533400">
              <a:buFontTx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Discovering requirements</a:t>
            </a:r>
          </a:p>
          <a:p>
            <a:pPr marL="990600" lvl="1" indent="-533400">
              <a:buFontTx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Designing alternatives</a:t>
            </a:r>
          </a:p>
          <a:p>
            <a:pPr marL="990600" lvl="1" indent="-533400">
              <a:buFontTx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Prototyping alternative designs</a:t>
            </a:r>
          </a:p>
          <a:p>
            <a:pPr marL="990600" lvl="1" indent="-533400">
              <a:buFontTx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Evaluating product and its user experience throughout </a:t>
            </a:r>
          </a:p>
        </p:txBody>
      </p:sp>
      <p:sp>
        <p:nvSpPr>
          <p:cNvPr id="2" name="Slide Number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</a:rPr>
              <a:t>9</a:t>
            </a:fld>
            <a:endParaRPr lang="en-GB" sz="1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609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882752" y="6457560"/>
            <a:ext cx="1378496" cy="244475"/>
          </a:xfrm>
        </p:spPr>
        <p:txBody>
          <a:bodyPr/>
          <a:lstStyle/>
          <a:p>
            <a:r>
              <a:rPr lang="en-GB" sz="1000" dirty="0">
                <a:solidFill>
                  <a:srgbClr val="7030A0"/>
                </a:solidFill>
                <a:latin typeface="Liberation Sans"/>
              </a:rPr>
              <a:t>www.id-book.com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title"/>
          </p:nvPr>
        </p:nvSpPr>
        <p:spPr>
          <a:xfrm>
            <a:off x="179512" y="339697"/>
            <a:ext cx="8712967" cy="144398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dirty="0">
                <a:latin typeface="Liberation Sans"/>
              </a:rPr>
              <a:t>A simple interaction design lifecycle model</a:t>
            </a:r>
            <a:endParaRPr lang="en-US" i="1" dirty="0">
              <a:latin typeface="Liberation Sans"/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1872382" y="1877281"/>
            <a:ext cx="567174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r>
              <a:rPr lang="en-US" sz="2000" dirty="0">
                <a:latin typeface="Liberation Sans"/>
              </a:rPr>
              <a:t>Exemplifies a people-centered design approach </a:t>
            </a:r>
          </a:p>
        </p:txBody>
      </p:sp>
      <p:sp>
        <p:nvSpPr>
          <p:cNvPr id="2" name="Slide Number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  <a:latin typeface="Liberation Sans"/>
              </a:rPr>
              <a:t>10</a:t>
            </a:fld>
            <a:endParaRPr lang="en-GB" sz="1000" dirty="0">
              <a:solidFill>
                <a:srgbClr val="7030A0"/>
              </a:solidFill>
              <a:latin typeface="Liberation Sans"/>
            </a:endParaRPr>
          </a:p>
        </p:txBody>
      </p:sp>
      <p:pic>
        <p:nvPicPr>
          <p:cNvPr id="4" name="Picture 3" descr="An illustration of a simple interaction design lifecycle model">
            <a:extLst>
              <a:ext uri="{FF2B5EF4-FFF2-40B4-BE49-F238E27FC236}">
                <a16:creationId xmlns:a16="http://schemas.microsoft.com/office/drawing/2014/main" id="{F96089E6-EDFB-364D-B197-C4B97D63BE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554360"/>
            <a:ext cx="7281651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7538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882752" y="6457560"/>
            <a:ext cx="1378496" cy="244475"/>
          </a:xfrm>
        </p:spPr>
        <p:txBody>
          <a:bodyPr/>
          <a:lstStyle/>
          <a:p>
            <a:r>
              <a:rPr lang="en-GB" sz="1000" dirty="0">
                <a:solidFill>
                  <a:srgbClr val="7030A0"/>
                </a:solidFill>
                <a:latin typeface="Liberation Sans"/>
              </a:rPr>
              <a:t>www.id-book.com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title"/>
          </p:nvPr>
        </p:nvSpPr>
        <p:spPr>
          <a:xfrm>
            <a:off x="90041" y="709688"/>
            <a:ext cx="8403108" cy="144398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dirty="0">
                <a:latin typeface="Liberation Sans"/>
              </a:rPr>
              <a:t>Another lifecycle model: </a:t>
            </a:r>
            <a:br>
              <a:rPr lang="en-US" dirty="0">
                <a:latin typeface="Liberation Sans"/>
              </a:rPr>
            </a:br>
            <a:r>
              <a:rPr lang="en-US" dirty="0">
                <a:latin typeface="Liberation Sans"/>
              </a:rPr>
              <a:t>Design Sprints</a:t>
            </a:r>
            <a:endParaRPr lang="en-US" sz="2000" i="1" dirty="0">
              <a:latin typeface="Liberation Sans"/>
            </a:endParaRPr>
          </a:p>
        </p:txBody>
      </p:sp>
      <p:sp>
        <p:nvSpPr>
          <p:cNvPr id="2" name="Slide Number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  <a:latin typeface="Liberation Sans"/>
              </a:rPr>
              <a:t>11</a:t>
            </a:fld>
            <a:endParaRPr lang="en-GB" sz="1000" dirty="0">
              <a:solidFill>
                <a:srgbClr val="7030A0"/>
              </a:solidFill>
              <a:latin typeface="Liberation Sans"/>
            </a:endParaRPr>
          </a:p>
        </p:txBody>
      </p:sp>
      <p:pic>
        <p:nvPicPr>
          <p:cNvPr id="4" name="Picture 3" descr="An illustration of the six phases of the design sprint.">
            <a:extLst>
              <a:ext uri="{FF2B5EF4-FFF2-40B4-BE49-F238E27FC236}">
                <a16:creationId xmlns:a16="http://schemas.microsoft.com/office/drawing/2014/main" id="{E429AC37-3933-0248-91A1-F8C434670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39" y="2004255"/>
            <a:ext cx="8100392" cy="35409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614E8E-8EA6-F446-A34B-F5F421CF51D0}"/>
              </a:ext>
            </a:extLst>
          </p:cNvPr>
          <p:cNvSpPr/>
          <p:nvPr/>
        </p:nvSpPr>
        <p:spPr>
          <a:xfrm>
            <a:off x="412999" y="5635989"/>
            <a:ext cx="8352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i="1" dirty="0">
                <a:effectLst/>
                <a:latin typeface="HelveticaNeueLTStd"/>
              </a:rPr>
              <a:t>Source: </a:t>
            </a:r>
            <a:r>
              <a:rPr lang="en-GB" sz="1800" dirty="0" err="1">
                <a:effectLst/>
                <a:latin typeface="HelveticaNeueLTStd"/>
              </a:rPr>
              <a:t>designsprintkit.withgoogle.com</a:t>
            </a:r>
            <a:r>
              <a:rPr lang="en-GB" sz="1800" dirty="0">
                <a:effectLst/>
                <a:latin typeface="HelveticaNeueLTStd"/>
              </a:rPr>
              <a:t>/methodology/overview </a:t>
            </a:r>
            <a:endParaRPr lang="en-GB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6282453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860544" y="6508722"/>
            <a:ext cx="1378496" cy="244475"/>
          </a:xfrm>
        </p:spPr>
        <p:txBody>
          <a:bodyPr/>
          <a:lstStyle/>
          <a:p>
            <a:r>
              <a:rPr lang="en-GB" sz="1000" dirty="0">
                <a:solidFill>
                  <a:srgbClr val="7030A0"/>
                </a:solidFill>
                <a:latin typeface="Liberation Sans"/>
              </a:rPr>
              <a:t>www.id-book.com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title"/>
          </p:nvPr>
        </p:nvSpPr>
        <p:spPr>
          <a:xfrm>
            <a:off x="415801" y="214865"/>
            <a:ext cx="8728199" cy="144398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dirty="0">
                <a:latin typeface="Liberation Sans"/>
              </a:rPr>
              <a:t>Another lifecycle model: </a:t>
            </a:r>
            <a:br>
              <a:rPr lang="en-US" dirty="0">
                <a:latin typeface="Liberation Sans"/>
              </a:rPr>
            </a:br>
            <a:r>
              <a:rPr lang="en-US" dirty="0">
                <a:latin typeface="Liberation Sans"/>
              </a:rPr>
              <a:t>Research in the Wild </a:t>
            </a:r>
            <a:r>
              <a:rPr lang="en-US" sz="2000" dirty="0">
                <a:latin typeface="Liberation Sans"/>
              </a:rPr>
              <a:t>(Rogers and Marshall, 2017)</a:t>
            </a:r>
            <a:endParaRPr lang="en-US" sz="2000" i="1" dirty="0">
              <a:latin typeface="Liberation Sans"/>
            </a:endParaRPr>
          </a:p>
        </p:txBody>
      </p:sp>
      <p:sp>
        <p:nvSpPr>
          <p:cNvPr id="2" name="Slide Number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88072"/>
            <a:ext cx="2133600" cy="365125"/>
          </a:xfrm>
        </p:spPr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  <a:latin typeface="Liberation Sans"/>
              </a:rPr>
              <a:t>12</a:t>
            </a:fld>
            <a:endParaRPr lang="en-GB" sz="1000" dirty="0">
              <a:solidFill>
                <a:srgbClr val="7030A0"/>
              </a:solidFill>
              <a:latin typeface="Liberation Sans"/>
            </a:endParaRPr>
          </a:p>
        </p:txBody>
      </p:sp>
      <p:pic>
        <p:nvPicPr>
          <p:cNvPr id="7" name="Picture 6" descr="An illustration of a framework for research in the wild (RITW) studies illustrating that all of the study elements connect to each other.&#10;">
            <a:extLst>
              <a:ext uri="{FF2B5EF4-FFF2-40B4-BE49-F238E27FC236}">
                <a16:creationId xmlns:a16="http://schemas.microsoft.com/office/drawing/2014/main" id="{7DD2019B-A955-EE42-BE7C-EC65514A6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474" y="1662415"/>
            <a:ext cx="4198726" cy="419872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C8F11B1-9A0B-DF46-92E4-7E85DDA239FD}"/>
              </a:ext>
            </a:extLst>
          </p:cNvPr>
          <p:cNvSpPr/>
          <p:nvPr/>
        </p:nvSpPr>
        <p:spPr>
          <a:xfrm>
            <a:off x="323528" y="5971543"/>
            <a:ext cx="83632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latin typeface="HelveticaNeueLTStd"/>
              </a:rPr>
              <a:t>A framework for research in the wild studies </a:t>
            </a:r>
          </a:p>
          <a:p>
            <a:r>
              <a:rPr lang="en-GB" sz="1600" i="1" dirty="0">
                <a:latin typeface="HelveticaNeueLTStd"/>
              </a:rPr>
              <a:t>Source: </a:t>
            </a:r>
            <a:r>
              <a:rPr lang="en-GB" sz="1600" dirty="0">
                <a:latin typeface="HelveticaNeueLTStd"/>
              </a:rPr>
              <a:t>Rogers and Marshall, 2017, p6.  (used courtesy of Morgan and Claypool)</a:t>
            </a:r>
            <a:endParaRPr lang="en-GB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462662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67944" y="6381328"/>
            <a:ext cx="1450504" cy="365125"/>
          </a:xfrm>
        </p:spPr>
        <p:txBody>
          <a:bodyPr/>
          <a:lstStyle/>
          <a:p>
            <a:r>
              <a:rPr lang="en-GB" sz="1000" dirty="0">
                <a:solidFill>
                  <a:srgbClr val="7030A0"/>
                </a:solidFill>
              </a:rPr>
              <a:t>www.id-book.com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188640"/>
            <a:ext cx="7772400" cy="1143000"/>
          </a:xfrm>
        </p:spPr>
        <p:txBody>
          <a:bodyPr/>
          <a:lstStyle/>
          <a:p>
            <a:r>
              <a:rPr lang="en-GB" dirty="0"/>
              <a:t>Some practical issues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84313"/>
            <a:ext cx="7772400" cy="3528863"/>
          </a:xfrm>
        </p:spPr>
        <p:txBody>
          <a:bodyPr>
            <a:normAutofit/>
          </a:bodyPr>
          <a:lstStyle/>
          <a:p>
            <a:pPr>
              <a:spcBef>
                <a:spcPct val="30000"/>
              </a:spcBef>
            </a:pPr>
            <a:r>
              <a:rPr lang="en-GB" dirty="0"/>
              <a:t>How to find out what people need</a:t>
            </a:r>
          </a:p>
          <a:p>
            <a:r>
              <a:rPr lang="en-GB" dirty="0"/>
              <a:t>How to decide what to design</a:t>
            </a:r>
          </a:p>
          <a:p>
            <a:r>
              <a:rPr lang="en-US" dirty="0"/>
              <a:t>How to generate alternative designs</a:t>
            </a:r>
          </a:p>
          <a:p>
            <a:r>
              <a:rPr lang="en-US" dirty="0"/>
              <a:t>How to choose among alternatives</a:t>
            </a:r>
          </a:p>
          <a:p>
            <a:r>
              <a:rPr lang="en-GB" dirty="0"/>
              <a:t>How to integrate interaction design activities with other lifecycle models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</a:rPr>
              <a:t>13</a:t>
            </a:fld>
            <a:endParaRPr lang="en-GB" sz="1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399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061BEC2C-DB53-9B4A-B385-480DFB9A09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332656"/>
            <a:ext cx="7989887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How to find out what people need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395288" y="1331640"/>
            <a:ext cx="8420100" cy="4977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hangingPunct="0">
              <a:spcBef>
                <a:spcPct val="50000"/>
              </a:spcBef>
              <a:buFontTx/>
              <a:buChar char="•"/>
            </a:pPr>
            <a:r>
              <a:rPr lang="en-GB" sz="2800" dirty="0">
                <a:latin typeface="Liberation Sans"/>
              </a:rPr>
              <a:t>Users rarely know what is possible</a:t>
            </a:r>
          </a:p>
          <a:p>
            <a:pPr marL="342900" indent="-342900" eaLnBrk="0" hangingPunct="0">
              <a:spcBef>
                <a:spcPct val="50000"/>
              </a:spcBef>
              <a:buFontTx/>
              <a:buChar char="•"/>
            </a:pPr>
            <a:r>
              <a:rPr lang="en-GB" sz="2800" dirty="0">
                <a:latin typeface="Liberation Sans"/>
              </a:rPr>
              <a:t>Instead:</a:t>
            </a:r>
          </a:p>
          <a:p>
            <a:pPr marL="800100" lvl="1" indent="-342900" eaLnBrk="0" hangingPunct="0">
              <a:spcBef>
                <a:spcPct val="50000"/>
              </a:spcBef>
              <a:buFont typeface="Wingdings" pitchFamily="2" charset="2"/>
              <a:buChar char="§"/>
            </a:pPr>
            <a:r>
              <a:rPr lang="en-GB" sz="2400" dirty="0">
                <a:latin typeface="Liberation Sans"/>
              </a:rPr>
              <a:t>Explore the problem space</a:t>
            </a:r>
          </a:p>
          <a:p>
            <a:pPr marL="800100" lvl="1" indent="-342900" eaLnBrk="0" hangingPunct="0">
              <a:spcBef>
                <a:spcPct val="50000"/>
              </a:spcBef>
              <a:buFont typeface="Wingdings" pitchFamily="2" charset="2"/>
              <a:buChar char="§"/>
            </a:pPr>
            <a:r>
              <a:rPr lang="en-GB" sz="2400" dirty="0">
                <a:latin typeface="Liberation Sans"/>
              </a:rPr>
              <a:t>Investigate potential users and their activities</a:t>
            </a:r>
          </a:p>
          <a:p>
            <a:pPr marL="800100" lvl="1" indent="-342900" eaLnBrk="0" hangingPunct="0">
              <a:spcBef>
                <a:spcPct val="50000"/>
              </a:spcBef>
              <a:buFont typeface="Wingdings" pitchFamily="2" charset="2"/>
              <a:buChar char="§"/>
            </a:pPr>
            <a:r>
              <a:rPr lang="en-GB" sz="2400" dirty="0">
                <a:latin typeface="Liberation Sans"/>
              </a:rPr>
              <a:t>Try out ideas with potential users</a:t>
            </a:r>
          </a:p>
          <a:p>
            <a:pPr marL="342900" indent="-342900" eaLnBrk="0" hangingPunct="0">
              <a:spcBef>
                <a:spcPct val="50000"/>
              </a:spcBef>
              <a:buFontTx/>
              <a:buChar char="•"/>
            </a:pPr>
            <a:r>
              <a:rPr lang="en-GB" sz="2800" dirty="0">
                <a:latin typeface="Liberation Sans"/>
              </a:rPr>
              <a:t>Focus on peoples’ goals, usability, and user experience goals, rather than expect stakeholders to articulate requirements</a:t>
            </a:r>
          </a:p>
        </p:txBody>
      </p:sp>
      <p:sp>
        <p:nvSpPr>
          <p:cNvPr id="2" name="Slide Number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  <a:latin typeface="Liberation Sans"/>
              </a:rPr>
              <a:t>14</a:t>
            </a:fld>
            <a:endParaRPr lang="en-GB" sz="1000" dirty="0">
              <a:solidFill>
                <a:srgbClr val="7030A0"/>
              </a:solidFill>
              <a:latin typeface="Liberation Sans"/>
            </a:endParaRPr>
          </a:p>
        </p:txBody>
      </p:sp>
      <p:sp>
        <p:nvSpPr>
          <p:cNvPr id="3" name="Footer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/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1442974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74638"/>
            <a:ext cx="8291264" cy="1210146"/>
          </a:xfrm>
        </p:spPr>
        <p:txBody>
          <a:bodyPr>
            <a:normAutofit/>
          </a:bodyPr>
          <a:lstStyle/>
          <a:p>
            <a:r>
              <a:rPr lang="en-GB" dirty="0"/>
              <a:t>How to decide what to design</a:t>
            </a:r>
            <a:endParaRPr lang="en-GB" i="1" dirty="0"/>
          </a:p>
        </p:txBody>
      </p:sp>
      <p:sp>
        <p:nvSpPr>
          <p:cNvPr id="2" name="Slide Number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</a:rPr>
              <a:t>15</a:t>
            </a:fld>
            <a:endParaRPr lang="en-GB" sz="1000" dirty="0">
              <a:solidFill>
                <a:srgbClr val="7030A0"/>
              </a:solidFill>
            </a:endParaRPr>
          </a:p>
        </p:txBody>
      </p:sp>
      <p:sp>
        <p:nvSpPr>
          <p:cNvPr id="3" name="Footer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/>
              <a:t>www.id-book.com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F30AA4C-C1BC-F447-8C13-1870E11FEA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Explore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What is the current user experience?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Why is a change needed?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How will this change improve the situation?</a:t>
            </a:r>
            <a:endParaRPr lang="en-GB" sz="800" dirty="0"/>
          </a:p>
          <a:p>
            <a:pPr lvl="1"/>
            <a:endParaRPr lang="en-GB" sz="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2800" dirty="0"/>
              <a:t>Articulating the problem space </a:t>
            </a:r>
            <a:endParaRPr lang="en-GB" sz="1000" i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Team effort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Explore different perspectives</a:t>
            </a:r>
            <a:endParaRPr lang="en-GB" sz="8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Avoid incorrect assumptions and unsupported claims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264891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74638"/>
            <a:ext cx="8291264" cy="1210146"/>
          </a:xfrm>
        </p:spPr>
        <p:txBody>
          <a:bodyPr>
            <a:normAutofit fontScale="90000"/>
          </a:bodyPr>
          <a:lstStyle/>
          <a:p>
            <a:r>
              <a:rPr lang="en-GB" dirty="0"/>
              <a:t>How to generate alternative designs</a:t>
            </a:r>
            <a:endParaRPr lang="en-GB" i="1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84784"/>
            <a:ext cx="8350696" cy="4871566"/>
          </a:xfrm>
        </p:spPr>
        <p:txBody>
          <a:bodyPr>
            <a:normAutofit/>
          </a:bodyPr>
          <a:lstStyle/>
          <a:p>
            <a:pPr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2600" dirty="0"/>
              <a:t>Humans tend to stick with something that works</a:t>
            </a:r>
          </a:p>
          <a:p>
            <a:pPr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2600" dirty="0"/>
              <a:t>Considering alternatives helps identify better designs</a:t>
            </a:r>
          </a:p>
          <a:p>
            <a:pPr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2600" dirty="0"/>
              <a:t>Where do alternative designs come from?</a:t>
            </a:r>
            <a:endParaRPr lang="en-GB" sz="2200" dirty="0"/>
          </a:p>
          <a:p>
            <a:pPr lvl="1"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ja-JP" altLang="en-GB" sz="2200" dirty="0">
                <a:solidFill>
                  <a:schemeClr val="tx1"/>
                </a:solidFill>
                <a:latin typeface="Arial"/>
              </a:rPr>
              <a:t>‘</a:t>
            </a:r>
            <a:r>
              <a:rPr lang="en-GB" sz="2200" dirty="0">
                <a:solidFill>
                  <a:schemeClr val="tx1"/>
                </a:solidFill>
              </a:rPr>
              <a:t>Flair and creativity</a:t>
            </a:r>
            <a:r>
              <a:rPr lang="ja-JP" altLang="en-GB" sz="2200" dirty="0">
                <a:solidFill>
                  <a:schemeClr val="tx1"/>
                </a:solidFill>
                <a:latin typeface="Arial"/>
              </a:rPr>
              <a:t>’</a:t>
            </a:r>
            <a:r>
              <a:rPr lang="en-GB" sz="2200" dirty="0">
                <a:solidFill>
                  <a:schemeClr val="tx1"/>
                </a:solidFill>
              </a:rPr>
              <a:t>: research and synthesis</a:t>
            </a:r>
          </a:p>
          <a:p>
            <a:pPr lvl="1"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Cross-fertilization of ideas from different perspectives</a:t>
            </a:r>
          </a:p>
          <a:p>
            <a:pPr lvl="1"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Users can generate different designs</a:t>
            </a:r>
          </a:p>
          <a:p>
            <a:pPr lvl="1"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Prompts to provoke thinking, e.g. SCAMPER</a:t>
            </a:r>
            <a:endParaRPr lang="en-GB" sz="900" dirty="0">
              <a:solidFill>
                <a:schemeClr val="tx1"/>
              </a:solidFill>
            </a:endParaRPr>
          </a:p>
          <a:p>
            <a:pPr lvl="1"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Seek inspiration: other products and domain</a:t>
            </a:r>
          </a:p>
          <a:p>
            <a:pPr lvl="1"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Different perspectives</a:t>
            </a:r>
          </a:p>
          <a:p>
            <a:pPr ea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2600" dirty="0"/>
              <a:t>Balancing constraints and trade-offs</a:t>
            </a:r>
          </a:p>
        </p:txBody>
      </p:sp>
      <p:sp>
        <p:nvSpPr>
          <p:cNvPr id="2" name="Slide Number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</a:rPr>
              <a:t>16</a:t>
            </a:fld>
            <a:endParaRPr lang="en-GB" sz="1000" dirty="0">
              <a:solidFill>
                <a:srgbClr val="7030A0"/>
              </a:solidFill>
            </a:endParaRPr>
          </a:p>
        </p:txBody>
      </p:sp>
      <p:sp>
        <p:nvSpPr>
          <p:cNvPr id="3" name="Footer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/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2687044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6632"/>
            <a:ext cx="9324528" cy="864096"/>
          </a:xfrm>
        </p:spPr>
        <p:txBody>
          <a:bodyPr>
            <a:normAutofit/>
          </a:bodyPr>
          <a:lstStyle/>
          <a:p>
            <a:r>
              <a:rPr lang="en-GB" dirty="0"/>
              <a:t>How to choose among alternatives</a:t>
            </a:r>
            <a:endParaRPr lang="en-GB" i="1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052736"/>
            <a:ext cx="8229600" cy="4925144"/>
          </a:xfrm>
        </p:spPr>
        <p:txBody>
          <a:bodyPr>
            <a:noAutofit/>
          </a:bodyPr>
          <a:lstStyle/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Interaction design focuses on externally-visible and measurable </a:t>
            </a:r>
            <a:r>
              <a:rPr lang="en-US" sz="2400" dirty="0"/>
              <a:t>behavior</a:t>
            </a:r>
            <a:r>
              <a:rPr lang="en-GB" sz="2400" dirty="0"/>
              <a:t> </a:t>
            </a:r>
          </a:p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Technical feasibility</a:t>
            </a:r>
          </a:p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Evaluation with users or peers</a:t>
            </a:r>
          </a:p>
          <a:p>
            <a:pPr lvl="1" eaLnBrk="0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Prototypes not static documentation because behavior is key</a:t>
            </a:r>
            <a:endParaRPr lang="en-GB" sz="600" dirty="0"/>
          </a:p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A/B Testing</a:t>
            </a:r>
          </a:p>
          <a:p>
            <a:pPr lvl="1" eaLnBrk="0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Online method to inform choice between alternatives</a:t>
            </a:r>
          </a:p>
          <a:p>
            <a:pPr lvl="1" eaLnBrk="0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Nontrivial to set appropriate metrics and choose user group sets</a:t>
            </a:r>
          </a:p>
          <a:p>
            <a:pPr eaLnBrk="0" hangingPunct="0">
              <a:spcBef>
                <a:spcPct val="0"/>
              </a:spcBef>
              <a:spcAft>
                <a:spcPts val="600"/>
              </a:spcAft>
            </a:pPr>
            <a:endParaRPr lang="en-GB" sz="600" dirty="0"/>
          </a:p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Quality thresholds </a:t>
            </a:r>
          </a:p>
          <a:p>
            <a:pPr lvl="1" eaLnBrk="0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Different stakeholder groups have different quality thresholds</a:t>
            </a:r>
          </a:p>
          <a:p>
            <a:pPr lvl="1" eaLnBrk="0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Usability and user experience goals lead to relevant criteria</a:t>
            </a:r>
          </a:p>
        </p:txBody>
      </p:sp>
      <p:sp>
        <p:nvSpPr>
          <p:cNvPr id="2" name="Slide Number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</a:rPr>
              <a:t>17</a:t>
            </a:fld>
            <a:endParaRPr lang="en-GB" sz="1000" dirty="0">
              <a:solidFill>
                <a:srgbClr val="7030A0"/>
              </a:solidFill>
            </a:endParaRPr>
          </a:p>
        </p:txBody>
      </p:sp>
      <p:sp>
        <p:nvSpPr>
          <p:cNvPr id="3" name="Footer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/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1165655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8336" y="332656"/>
            <a:ext cx="8867328" cy="1282154"/>
          </a:xfrm>
        </p:spPr>
        <p:txBody>
          <a:bodyPr>
            <a:noAutofit/>
          </a:bodyPr>
          <a:lstStyle/>
          <a:p>
            <a:r>
              <a:rPr lang="en-GB" dirty="0"/>
              <a:t>How to integrate interaction design activities within other models</a:t>
            </a:r>
            <a:endParaRPr lang="en-GB" i="1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6953" y="1976623"/>
            <a:ext cx="8229600" cy="4379727"/>
          </a:xfrm>
        </p:spPr>
        <p:txBody>
          <a:bodyPr>
            <a:normAutofit/>
          </a:bodyPr>
          <a:lstStyle/>
          <a:p>
            <a:pPr eaLnBrk="0" hangingPunct="0">
              <a:spcBef>
                <a:spcPts val="300"/>
              </a:spcBef>
              <a:spcAft>
                <a:spcPts val="300"/>
              </a:spcAft>
            </a:pPr>
            <a:r>
              <a:rPr lang="en-GB" sz="2400" dirty="0"/>
              <a:t>Integrating interaction design activities in lifecycle models from other disciplines requires careful planning</a:t>
            </a:r>
          </a:p>
          <a:p>
            <a:pPr eaLnBrk="0" hangingPunct="0">
              <a:spcBef>
                <a:spcPts val="300"/>
              </a:spcBef>
              <a:spcAft>
                <a:spcPts val="300"/>
              </a:spcAft>
            </a:pPr>
            <a:r>
              <a:rPr lang="en-GB" sz="2400" dirty="0"/>
              <a:t>Software development lifecycle models are prominent</a:t>
            </a:r>
          </a:p>
          <a:p>
            <a:pPr eaLnBrk="0" hangingPunct="0">
              <a:spcBef>
                <a:spcPts val="300"/>
              </a:spcBef>
              <a:spcAft>
                <a:spcPts val="300"/>
              </a:spcAft>
            </a:pPr>
            <a:r>
              <a:rPr lang="en-GB" sz="2400" dirty="0"/>
              <a:t>Integrating with agile software development:</a:t>
            </a:r>
          </a:p>
          <a:p>
            <a:pPr lvl="1"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It incorporates tight iterations</a:t>
            </a:r>
          </a:p>
          <a:p>
            <a:pPr lvl="1"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It champions early and regular feedback</a:t>
            </a:r>
          </a:p>
          <a:p>
            <a:pPr lvl="1"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It handles emergent requirements</a:t>
            </a:r>
          </a:p>
          <a:p>
            <a:pPr lvl="1">
              <a:buFont typeface="Wingdings" pitchFamily="2" charset="2"/>
              <a:buChar char="§"/>
            </a:pPr>
            <a:r>
              <a:rPr lang="en-GB" sz="2200" dirty="0">
                <a:solidFill>
                  <a:schemeClr val="tx1"/>
                </a:solidFill>
              </a:rPr>
              <a:t>It aims to strike a balance between flexibility and structure</a:t>
            </a:r>
          </a:p>
          <a:p>
            <a:pPr lvl="1" eaLnBrk="0" hangingPunct="0">
              <a:spcBef>
                <a:spcPts val="300"/>
              </a:spcBef>
              <a:spcAft>
                <a:spcPts val="300"/>
              </a:spcAft>
              <a:buFontTx/>
              <a:buChar char="—"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</a:rPr>
              <a:t>18</a:t>
            </a:fld>
            <a:endParaRPr lang="en-GB" sz="1000" dirty="0">
              <a:solidFill>
                <a:srgbClr val="7030A0"/>
              </a:solidFill>
            </a:endParaRPr>
          </a:p>
        </p:txBody>
      </p:sp>
      <p:sp>
        <p:nvSpPr>
          <p:cNvPr id="3" name="Footer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/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3498785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k</a:t>
            </a:r>
            <a:r>
              <a:rPr lang="en-US" sz="4400" dirty="0"/>
              <a:t>ey points</a:t>
            </a:r>
            <a:endParaRPr lang="en-GB" sz="4400" i="1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340768"/>
            <a:ext cx="8568951" cy="4968552"/>
          </a:xfrm>
        </p:spPr>
        <p:txBody>
          <a:bodyPr>
            <a:normAutofit fontScale="92500"/>
          </a:bodyPr>
          <a:lstStyle/>
          <a:p>
            <a:pPr marL="514350" indent="-457200" eaLnBrk="0" hangingPunct="0">
              <a:spcBef>
                <a:spcPts val="300"/>
              </a:spcBef>
            </a:pPr>
            <a:r>
              <a:rPr lang="en-US" sz="2800" dirty="0"/>
              <a:t>Four basic activities in interaction design process</a:t>
            </a:r>
          </a:p>
          <a:p>
            <a:pPr marL="971550" lvl="1" indent="-457200" eaLnBrk="0" hangingPunct="0">
              <a:spcBef>
                <a:spcPts val="3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Discovering requirements</a:t>
            </a:r>
          </a:p>
          <a:p>
            <a:pPr marL="971550" lvl="1" indent="-457200" eaLnBrk="0" hangingPunct="0">
              <a:spcBef>
                <a:spcPts val="300"/>
              </a:spcBef>
              <a:buFont typeface="Wingdings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Designing alternatives</a:t>
            </a:r>
          </a:p>
          <a:p>
            <a:pPr marL="971550" lvl="1" indent="-457200" eaLnBrk="0" hangingPunct="0">
              <a:spcBef>
                <a:spcPts val="300"/>
              </a:spcBef>
              <a:buFont typeface="Wingdings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Prototyping</a:t>
            </a:r>
          </a:p>
          <a:p>
            <a:pPr marL="971550" lvl="1" indent="-457200" eaLnBrk="0" hangingPunct="0">
              <a:spcBef>
                <a:spcPts val="300"/>
              </a:spcBef>
              <a:buFont typeface="Wingdings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Evaluating</a:t>
            </a:r>
            <a:endParaRPr lang="en-US" sz="2400" dirty="0">
              <a:solidFill>
                <a:schemeClr val="tx1"/>
              </a:solidFill>
            </a:endParaRPr>
          </a:p>
          <a:p>
            <a:pPr marL="514350" indent="-457200" eaLnBrk="0" hangingPunct="0">
              <a:spcBef>
                <a:spcPts val="300"/>
              </a:spcBef>
            </a:pPr>
            <a:r>
              <a:rPr lang="en-US" sz="2800" dirty="0"/>
              <a:t>People-centered design rests on three principles</a:t>
            </a:r>
          </a:p>
          <a:p>
            <a:pPr marL="971550" lvl="1" indent="-457200" eaLnBrk="0" hangingPunct="0">
              <a:spcBef>
                <a:spcPts val="300"/>
              </a:spcBef>
              <a:buFont typeface="Wingdings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Early focus on users and tasks</a:t>
            </a:r>
          </a:p>
          <a:p>
            <a:pPr marL="971550" lvl="1" indent="-457200" eaLnBrk="0" hangingPunct="0">
              <a:spcBef>
                <a:spcPts val="300"/>
              </a:spcBef>
              <a:buFont typeface="Wingdings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Empirical measurement</a:t>
            </a:r>
          </a:p>
          <a:p>
            <a:pPr marL="971550" lvl="1" indent="-457200" eaLnBrk="0" hangingPunct="0">
              <a:spcBef>
                <a:spcPts val="300"/>
              </a:spcBef>
              <a:buFont typeface="Wingdings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Iterative design</a:t>
            </a:r>
          </a:p>
          <a:p>
            <a:pPr marL="514350" indent="-457200" eaLnBrk="0" hangingPunct="0">
              <a:spcBef>
                <a:spcPts val="300"/>
              </a:spcBef>
            </a:pPr>
            <a:r>
              <a:rPr lang="en-US" sz="2800" dirty="0"/>
              <a:t>Understand problem space before starting design</a:t>
            </a:r>
          </a:p>
          <a:p>
            <a:pPr marL="514350" indent="-457200" eaLnBrk="0" hangingPunct="0">
              <a:spcBef>
                <a:spcPts val="300"/>
              </a:spcBef>
            </a:pPr>
            <a:r>
              <a:rPr lang="en-US" sz="2800" dirty="0"/>
              <a:t>Involve stakeholder groups throughout development</a:t>
            </a:r>
          </a:p>
          <a:p>
            <a:pPr marL="514350" indent="-457200" eaLnBrk="0" hangingPunct="0">
              <a:spcBef>
                <a:spcPts val="300"/>
              </a:spcBef>
            </a:pPr>
            <a:r>
              <a:rPr lang="en-US" sz="2800" dirty="0"/>
              <a:t>Generate alternative designs and evaluate them</a:t>
            </a:r>
            <a:endParaRPr lang="en-GB" sz="2800" dirty="0">
              <a:solidFill>
                <a:schemeClr val="tx1"/>
              </a:solidFill>
            </a:endParaRPr>
          </a:p>
          <a:p>
            <a:pPr marL="990600" lvl="1" indent="-533400" eaLnBrk="0" hangingPunct="0">
              <a:spcBef>
                <a:spcPts val="300"/>
              </a:spcBef>
              <a:buFontTx/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609600" indent="-609600" eaLnBrk="0" hangingPunct="0">
              <a:spcBef>
                <a:spcPct val="0"/>
              </a:spcBef>
              <a:buFontTx/>
              <a:buNone/>
            </a:pPr>
            <a:endParaRPr lang="en-US" sz="2800" dirty="0"/>
          </a:p>
          <a:p>
            <a:pPr marL="609600" indent="-609600"/>
            <a:endParaRPr lang="en-GB" sz="2800" dirty="0"/>
          </a:p>
        </p:txBody>
      </p:sp>
      <p:sp>
        <p:nvSpPr>
          <p:cNvPr id="2" name="Slide Number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z="1000" smtClean="0">
                <a:solidFill>
                  <a:srgbClr val="7030A0"/>
                </a:solidFill>
              </a:rPr>
              <a:t>19</a:t>
            </a:fld>
            <a:endParaRPr lang="en-GB" sz="1000" dirty="0">
              <a:solidFill>
                <a:srgbClr val="7030A0"/>
              </a:solidFill>
            </a:endParaRPr>
          </a:p>
        </p:txBody>
      </p:sp>
      <p:sp>
        <p:nvSpPr>
          <p:cNvPr id="3" name="Footer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000" dirty="0"/>
              <a:t>www.id-book.com</a:t>
            </a:r>
          </a:p>
        </p:txBody>
      </p:sp>
    </p:spTree>
    <p:extLst>
      <p:ext uri="{BB962C8B-B14F-4D97-AF65-F5344CB8AC3E}">
        <p14:creationId xmlns:p14="http://schemas.microsoft.com/office/powerpoint/2010/main" val="2040690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658A54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96dbaf1-3300-413c-a4ca-a854d5fe7f26" xsi:nil="true"/>
    <lcf76f155ced4ddcb4097134ff3c332f xmlns="6cc947ed-c583-4373-b50d-b582b6970f8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075258BC7634081DBF3E07F65C327" ma:contentTypeVersion="15" ma:contentTypeDescription="Create a new document." ma:contentTypeScope="" ma:versionID="cfe8fdb4317e47cebcebabe6b0fa36e1">
  <xsd:schema xmlns:xsd="http://www.w3.org/2001/XMLSchema" xmlns:xs="http://www.w3.org/2001/XMLSchema" xmlns:p="http://schemas.microsoft.com/office/2006/metadata/properties" xmlns:ns2="c96dbaf1-3300-413c-a4ca-a854d5fe7f26" xmlns:ns3="6cc947ed-c583-4373-b50d-b582b6970f8f" targetNamespace="http://schemas.microsoft.com/office/2006/metadata/properties" ma:root="true" ma:fieldsID="0c26bccc45014a537e93fb37921f0b52" ns2:_="" ns3:_="">
    <xsd:import namespace="c96dbaf1-3300-413c-a4ca-a854d5fe7f26"/>
    <xsd:import namespace="6cc947ed-c583-4373-b50d-b582b6970f8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6dbaf1-3300-413c-a4ca-a854d5fe7f2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5930324-421d-46e1-b7d0-8ee487aa681b}" ma:internalName="TaxCatchAll" ma:showField="CatchAllData" ma:web="c96dbaf1-3300-413c-a4ca-a854d5fe7f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c947ed-c583-4373-b50d-b582b6970f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7414def-154c-4d25-b3bb-ada8546948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443755-67DE-490F-A2CA-FC2290EB85AC}">
  <ds:schemaRefs>
    <ds:schemaRef ds:uri="http://schemas.microsoft.com/office/2006/metadata/properties"/>
    <ds:schemaRef ds:uri="http://schemas.microsoft.com/office/infopath/2007/PartnerControls"/>
    <ds:schemaRef ds:uri="c96dbaf1-3300-413c-a4ca-a854d5fe7f26"/>
    <ds:schemaRef ds:uri="6cc947ed-c583-4373-b50d-b582b6970f8f"/>
  </ds:schemaRefs>
</ds:datastoreItem>
</file>

<file path=customXml/itemProps2.xml><?xml version="1.0" encoding="utf-8"?>
<ds:datastoreItem xmlns:ds="http://schemas.openxmlformats.org/officeDocument/2006/customXml" ds:itemID="{4A127831-CDED-400E-A746-6784BAC792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8A60AF-78D8-4EC6-B089-B6CBB954F7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6dbaf1-3300-413c-a4ca-a854d5fe7f26"/>
    <ds:schemaRef ds:uri="6cc947ed-c583-4373-b50d-b582b6970f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967</Words>
  <Application>Microsoft Office PowerPoint</Application>
  <PresentationFormat>On-screen Show (4:3)</PresentationFormat>
  <Paragraphs>188</Paragraphs>
  <Slides>19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HelveticaNeueLTStd</vt:lpstr>
      <vt:lpstr>Liberation Sans</vt:lpstr>
      <vt:lpstr>Wingdings</vt:lpstr>
      <vt:lpstr>Office Theme</vt:lpstr>
      <vt:lpstr>Clip</vt:lpstr>
      <vt:lpstr>Chapter 2  THE PROCESS OF INTERACTION DESIGN</vt:lpstr>
      <vt:lpstr>Overview</vt:lpstr>
      <vt:lpstr>What is involved in Interaction Design?</vt:lpstr>
      <vt:lpstr>The double diamond of design</vt:lpstr>
      <vt:lpstr>Who to involve in interaction design</vt:lpstr>
      <vt:lpstr>Importance of involving users</vt:lpstr>
      <vt:lpstr>Degrees of user involvement</vt:lpstr>
      <vt:lpstr>What is a people-centered approach?</vt:lpstr>
      <vt:lpstr>Four basic activities of Interaction Design</vt:lpstr>
      <vt:lpstr>A simple interaction design lifecycle model</vt:lpstr>
      <vt:lpstr>Another lifecycle model:  Design Sprints</vt:lpstr>
      <vt:lpstr>Another lifecycle model:  Research in the Wild (Rogers and Marshall, 2017)</vt:lpstr>
      <vt:lpstr>Some practical issues</vt:lpstr>
      <vt:lpstr>How to find out what people need</vt:lpstr>
      <vt:lpstr>How to decide what to design</vt:lpstr>
      <vt:lpstr>How to generate alternative designs</vt:lpstr>
      <vt:lpstr>How to choose among alternatives</vt:lpstr>
      <vt:lpstr>How to integrate interaction design activities within other models</vt:lpstr>
      <vt:lpstr>Some key points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King, Georgia - Chichester</dc:creator>
  <cp:lastModifiedBy>Shanmugam</cp:lastModifiedBy>
  <cp:revision>91</cp:revision>
  <dcterms:created xsi:type="dcterms:W3CDTF">2015-01-06T09:40:09Z</dcterms:created>
  <dcterms:modified xsi:type="dcterms:W3CDTF">2023-02-22T07:45:03Z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0x010100EF4075258BC7634081DBF3E07F65C327</vt:lpwstr>
  </property>
</Properties>
</file>